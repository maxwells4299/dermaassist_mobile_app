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4" r:id="rId4"/>
    <p:sldId id="309" r:id="rId5"/>
    <p:sldId id="308" r:id="rId6"/>
    <p:sldId id="295" r:id="rId7"/>
    <p:sldId id="301" r:id="rId8"/>
    <p:sldId id="303" r:id="rId9"/>
    <p:sldId id="305" r:id="rId10"/>
    <p:sldId id="315" r:id="rId11"/>
    <p:sldId id="316" r:id="rId12"/>
    <p:sldId id="313" r:id="rId13"/>
    <p:sldId id="312" r:id="rId14"/>
    <p:sldId id="306" r:id="rId15"/>
    <p:sldId id="310" r:id="rId16"/>
    <p:sldId id="317" r:id="rId17"/>
    <p:sldId id="29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0506"/>
    <a:srgbClr val="0A688E"/>
    <a:srgbClr val="00820F"/>
    <a:srgbClr val="E6E6E6"/>
    <a:srgbClr val="0E8CBE"/>
    <a:srgbClr val="3FBEF1"/>
    <a:srgbClr val="109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30" y="1392751"/>
            <a:ext cx="5641606" cy="473406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756" y="4335371"/>
            <a:ext cx="3159890" cy="315989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40660" y="1775478"/>
            <a:ext cx="5181600" cy="4351338"/>
          </a:xfrm>
        </p:spPr>
        <p:txBody>
          <a:bodyPr/>
          <a:lstStyle>
            <a:lvl1pPr>
              <a:defRPr sz="2800" b="1" baseline="0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Table of Contents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Topic 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Topic 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Topic 3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Topic 4</a:t>
            </a:r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39753" y="-51682"/>
            <a:ext cx="12235732" cy="1203364"/>
            <a:chOff x="-39753" y="-51682"/>
            <a:chExt cx="12235732" cy="1203364"/>
          </a:xfrm>
        </p:grpSpPr>
        <p:sp>
          <p:nvSpPr>
            <p:cNvPr id="9" name="Rectangle 8"/>
            <p:cNvSpPr/>
            <p:nvPr userDrawn="1"/>
          </p:nvSpPr>
          <p:spPr>
            <a:xfrm>
              <a:off x="-39753" y="-51682"/>
              <a:ext cx="12235732" cy="1203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29" y="221358"/>
              <a:ext cx="2684166" cy="68001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 userDrawn="1"/>
          </p:nvSpPr>
          <p:spPr>
            <a:xfrm>
              <a:off x="7802880" y="411500"/>
              <a:ext cx="3546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1"/>
                  </a:solidFill>
                  <a:latin typeface="+mj-lt"/>
                </a:rPr>
                <a:t>KNOWLEDGE             INTEGRITY            IMPACT</a:t>
              </a:r>
            </a:p>
          </p:txBody>
        </p:sp>
        <p:cxnSp>
          <p:nvCxnSpPr>
            <p:cNvPr id="7" name="Straight Connector 6"/>
            <p:cNvCxnSpPr/>
            <p:nvPr userDrawn="1"/>
          </p:nvCxnSpPr>
          <p:spPr>
            <a:xfrm>
              <a:off x="901337" y="722811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 userDrawn="1"/>
          </p:nvSpPr>
          <p:spPr>
            <a:xfrm>
              <a:off x="8609870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9748239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0668414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7595"/>
            <a:ext cx="10515600" cy="44020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0" name="TextBox 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12" name="Rectangle 1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 userDrawn="1"/>
        </p:nvGrpSpPr>
        <p:grpSpPr>
          <a:xfrm>
            <a:off x="0" y="149580"/>
            <a:ext cx="12414000" cy="77361"/>
            <a:chOff x="0" y="149580"/>
            <a:chExt cx="12414000" cy="77361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166144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8337178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 userDrawn="1"/>
        </p:nvSpPr>
        <p:spPr>
          <a:xfrm>
            <a:off x="-39753" y="270922"/>
            <a:ext cx="12235732" cy="10565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7317" y="400967"/>
            <a:ext cx="10515600" cy="7548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49580"/>
            <a:ext cx="1897258" cy="77361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897258" y="149580"/>
            <a:ext cx="6345708" cy="7736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242966" y="149580"/>
            <a:ext cx="1874112" cy="773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7317" y="-1696937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1" name="TextBox 20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Content Placeholder 2"/>
          <p:cNvSpPr>
            <a:spLocks noGrp="1"/>
          </p:cNvSpPr>
          <p:nvPr userDrawn="1">
            <p:ph sz="half" idx="13"/>
          </p:nvPr>
        </p:nvSpPr>
        <p:spPr>
          <a:xfrm>
            <a:off x="6441956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10117078" y="149580"/>
            <a:ext cx="2073156" cy="773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505874" y="802630"/>
            <a:ext cx="9144477" cy="77100"/>
            <a:chOff x="1457173" y="851529"/>
            <a:chExt cx="9144477" cy="77100"/>
          </a:xfrm>
        </p:grpSpPr>
        <p:sp>
          <p:nvSpPr>
            <p:cNvPr id="10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-1" y="6303003"/>
            <a:ext cx="12195979" cy="554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9" name="TextBox 18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77" y="-2847804"/>
            <a:ext cx="4423402" cy="4423402"/>
          </a:xfrm>
          <a:prstGeom prst="rect">
            <a:avLst/>
          </a:prstGeom>
          <a:blipFill>
            <a:blip r:embed="rId4">
              <a:alphaModFix amt="0"/>
            </a:blip>
            <a:stretch>
              <a:fillRect/>
            </a:stretch>
          </a:blipFill>
        </p:spPr>
      </p:pic>
      <p:sp>
        <p:nvSpPr>
          <p:cNvPr id="25" name="Rectangle 24"/>
          <p:cNvSpPr/>
          <p:nvPr userDrawn="1"/>
        </p:nvSpPr>
        <p:spPr>
          <a:xfrm>
            <a:off x="0" y="-2537827"/>
            <a:ext cx="12195978" cy="253782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897258" y="6701970"/>
            <a:ext cx="6345708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242966" y="6701970"/>
            <a:ext cx="1874112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117078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518045" y="0"/>
            <a:ext cx="1672189" cy="6858000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0748" y="673352"/>
            <a:ext cx="9794348" cy="77993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748" y="1662545"/>
            <a:ext cx="9794348" cy="4611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0" y="0"/>
            <a:ext cx="12192000" cy="67019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/>
          </p:nvPr>
        </p:nvSpPr>
        <p:spPr>
          <a:xfrm>
            <a:off x="6038952" y="0"/>
            <a:ext cx="6153048" cy="67019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5190"/>
            <a:ext cx="44723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-1"/>
            <a:ext cx="12195979" cy="5111931"/>
          </a:xfrm>
          <a:prstGeom prst="rect">
            <a:avLst/>
          </a:prstGeom>
          <a:solidFill>
            <a:srgbClr val="0E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4958297"/>
            <a:ext cx="12195979" cy="153634"/>
            <a:chOff x="0" y="6701970"/>
            <a:chExt cx="12918820" cy="15359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64" y="5569074"/>
            <a:ext cx="856176" cy="856176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F8120-5D43-445C-81DE-BB63D27CD45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505874" y="1478705"/>
            <a:ext cx="9144477" cy="77100"/>
            <a:chOff x="1457173" y="851529"/>
            <a:chExt cx="9144477" cy="77100"/>
          </a:xfrm>
        </p:grpSpPr>
        <p:sp>
          <p:nvSpPr>
            <p:cNvPr id="11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0" name="TextBox 1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/>
          <p:cNvSpPr txBox="1"/>
          <p:nvPr userDrawn="1"/>
        </p:nvSpPr>
        <p:spPr>
          <a:xfrm>
            <a:off x="5378631" y="1165756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8631" y="4469044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15954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319710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70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6710"/>
            <a:ext cx="12192000" cy="674813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Google Shape;356;p34"/>
          <p:cNvSpPr txBox="1"/>
          <p:nvPr userDrawn="1"/>
        </p:nvSpPr>
        <p:spPr>
          <a:xfrm>
            <a:off x="1135765" y="2427304"/>
            <a:ext cx="55611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1500" dirty="0">
                <a:solidFill>
                  <a:schemeClr val="bg1"/>
                </a:solidFill>
              </a:rPr>
              <a:t>Thanks!</a:t>
            </a:r>
          </a:p>
        </p:txBody>
      </p:sp>
      <p:sp>
        <p:nvSpPr>
          <p:cNvPr id="9" name="Google Shape;357;p34"/>
          <p:cNvSpPr txBox="1"/>
          <p:nvPr userDrawn="1"/>
        </p:nvSpPr>
        <p:spPr>
          <a:xfrm>
            <a:off x="1135765" y="3455423"/>
            <a:ext cx="5561100" cy="78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4800" b="1">
                <a:solidFill>
                  <a:schemeClr val="lt1"/>
                </a:solidFill>
              </a:rPr>
              <a:t>Any questions?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8120-5D43-445C-81DE-BB63D27CD45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16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20" y="1009765"/>
            <a:ext cx="9043982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and Decision Sciences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BLUR-RESISTANT MOBILE MELANOMA, EARLY DETECTION WITH A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LIGHTWIEGHT HYBRID CNN-TRANSFORMER FRAMEWORK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(B-RMMS)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Name(s)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Taylor John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Adobaw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UEB3214822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Osei Boateng Godfred				UEB3204522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Opoku Amponsah Kelvin				UEB3210422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Adjei Gyamfi Edwin				UEB3204822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Selina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Soritaa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UEB3210222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1A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Supervisor’s Name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Jacob Mensah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54087" y="1564684"/>
            <a:ext cx="10561387" cy="4421272"/>
          </a:xfrm>
        </p:spPr>
        <p:txBody>
          <a:bodyPr>
            <a:no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 Background of the study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 of the project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/ Results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Plan / Timeline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76446" y="1467853"/>
            <a:ext cx="10561387" cy="4421272"/>
          </a:xfrm>
        </p:spPr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Survival gap: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~99% early dropping to </a:t>
            </a: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&lt;30% late stages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(American Cancer Society, 2023).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Accuracy loss: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Motion or defocus blur cause a </a:t>
            </a: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20–30% AI drop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(Han et al., 2022).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B-RMMS: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Gaussian + </a:t>
            </a: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CNN–Transformer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robustness (Rehman et al)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Decentralized care: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On-device screening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low-resource settings (WHO, 2022).</a:t>
            </a:r>
          </a:p>
          <a:p>
            <a:pPr algn="just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1. </a:t>
            </a: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20041" y="1426464"/>
            <a:ext cx="11027410" cy="4663187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Early melanoma screening is limited by a trade-off between model accuracy and mobile hardware constraints.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 accuracy models are too resource-intensive, while lightweight models fail under real-world blur and motion.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robustness gap leaves no reliable on-device solution for melanoma detection in uncontrolled mobile imaging conditions.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2. 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86063" y="1668379"/>
            <a:ext cx="10561387" cy="4421272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Main Objective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blur-resistant mobile melanoma, early detection with a lightweight hybrid CNN-Transformer framework.</a:t>
            </a:r>
          </a:p>
          <a:p>
            <a:pPr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Specific 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design a blur resistant mobile melanoma screening detection model.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determine the overall performance of the CNN-transformer framework.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implement a lightweighted hybrid system in the design framework.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demonstrate the algorithm parameters computed to activate the blurry resistance in the mobile melanoma screening.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AutoNum type="arabicPeriod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cs typeface="Times New Roman" panose="02020603050405020304" pitchFamily="18" charset="0"/>
              </a:rPr>
              <a:t>3. 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9584" y="1677972"/>
            <a:ext cx="11836428" cy="447773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Robustness:</a:t>
            </a:r>
            <a:r>
              <a:rPr lang="en-GB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Eliminates the accuracy loss caused by mobile camera blur.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Accessibility:</a:t>
            </a:r>
            <a:r>
              <a:rPr lang="en-GB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Provides expert-level screening to people in low-resource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Efficiency:</a:t>
            </a:r>
            <a:r>
              <a:rPr lang="en-GB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Proves advanced hybrid AI can run locally on standard smartphones.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Early Intervention:</a:t>
            </a:r>
            <a:r>
              <a:rPr lang="en-GB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Maximizes the 99% survival rate through timely detection.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Significance Of The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76446" y="1366627"/>
            <a:ext cx="10561387" cy="442127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5.1 Scope</a:t>
            </a:r>
          </a:p>
          <a:p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This project develops a lightweight, robust melanoma detection model for mobile edge devices. It evaluates on-device accuracy, efficiency, low latency and performance under real-world image distortions.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5.2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Time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Data Availability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Computational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Device Specificity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Scope And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7A6177FD-6A2F-008F-564D-1189D8A6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Literature Review (Brief)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F0FB49-24C0-B787-1CD2-1AFD1CC34A37}"/>
              </a:ext>
            </a:extLst>
          </p:cNvPr>
          <p:cNvSpPr txBox="1"/>
          <p:nvPr/>
        </p:nvSpPr>
        <p:spPr>
          <a:xfrm>
            <a:off x="301752" y="1609344"/>
            <a:ext cx="115214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Patel et al. (2022)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CNN accuracy drops to 30% under real-world blur.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Standard CNNs lack robustness for mobile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Hatamizadeh et al. (2022)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CNN-Transformer (UNETR) improves global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High computational cost limits mobile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Liu et al. (2023)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Blur-based training improves robustness slightly.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Data augmentation alone is insufficient.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Methodology</a:t>
            </a: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1891" y="1693237"/>
            <a:ext cx="11331018" cy="4252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/>
            <a:r>
              <a:rPr lang="en-US" sz="2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7. METHODOLOGY</a:t>
            </a:r>
          </a:p>
          <a:p>
            <a:pPr>
              <a:lnSpc>
                <a:spcPts val="3550"/>
              </a:lnSpc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This project will be carried out using a specialized system development pipeline designed for mobile robustness, ensuring high diagnostic accuracy and seamless on-device </a:t>
            </a:r>
            <a:r>
              <a:rPr lang="en-US" sz="2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deployability</a:t>
            </a: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.</a:t>
            </a:r>
          </a:p>
          <a:p>
            <a:pPr>
              <a:lnSpc>
                <a:spcPts val="3550"/>
              </a:lnSpc>
            </a:pPr>
            <a:endParaRPr lang="en-US" sz="2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2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7.1 Research Design / Approach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study adopts a system development and experimental approach for designing, training, and deploying a hybrid CNN-Transformer melanoma detection model on mobile devices.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D30F82-19EB-0291-F77E-95D0B710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63" y="1437223"/>
            <a:ext cx="11403693" cy="4626119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7.2 Data Collection Methods</a:t>
            </a:r>
          </a:p>
          <a:p>
            <a:pPr>
              <a:lnSpc>
                <a:spcPts val="2700"/>
              </a:lnSpc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Data will be sourced from the </a:t>
            </a:r>
            <a:r>
              <a:rPr lang="en-US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ISIC Archive which consist of high-resolution dermatological images.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 To enhance real-world applicability, motion and defocus blur will be programmatically added to these images, creating synthetic data that accurately </a:t>
            </a:r>
            <a:r>
              <a:rPr lang="en-US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simulates common failure points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 in mobile photography</a:t>
            </a:r>
            <a:endParaRPr lang="en-US" sz="32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32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32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7.3 Tools and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Software: Google Colab, Android Studio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Libraries: TensorFlow / </a:t>
            </a:r>
            <a:r>
              <a:rPr lang="en-US" sz="3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Keras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 Languages &amp; Frameworks: Python and Flutter.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B3D4CB-D65F-1095-A09E-041017E6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58749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88C92C-1B87-7D17-B2BB-7BEFB7837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506" y="1495570"/>
            <a:ext cx="11091926" cy="4576045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7.4 System Architecture/Framework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Gaussian Preprocessing Module (GPM) Layer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Dual-Stream Model (CNN - Transformer)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Mobile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Performance Metrics (Model Evaluation)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Accuracy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Precision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Recall (Sensitivity)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F1-Score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AUC-ROC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Confusion Matrix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1C69B9-CDF8-B93A-8F7A-766FF01F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01934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20076" y="1583537"/>
            <a:ext cx="10940881" cy="3997132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Cross-platform mobile application.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Lightweight hybrid CNN-Transformer framework.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Blur-robust diagnostic performance.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Sub-100ms on-device inference.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Technical blueprint for robust mHealth systems.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Expected Output /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00872" y="1389802"/>
            <a:ext cx="10515600" cy="49287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the project timeline (table).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2856" y="410393"/>
            <a:ext cx="10515600" cy="75483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Project Work Plan / Time Schedule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82456"/>
              </p:ext>
            </p:extLst>
          </p:nvPr>
        </p:nvGraphicFramePr>
        <p:xfrm>
          <a:off x="1277186" y="1801398"/>
          <a:ext cx="9070256" cy="448082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74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8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1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selection &amp; proposal writing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&amp; Problem Identification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 &amp; Model Development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Month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 Development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Month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Evaluation &amp; Model Optimization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67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&amp; Publication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Months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5559" y="1602391"/>
            <a:ext cx="10940881" cy="4704141"/>
          </a:xfrm>
        </p:spPr>
        <p:txBody>
          <a:bodyPr>
            <a:noAutofit/>
          </a:bodyPr>
          <a:lstStyle/>
          <a:p>
            <a:pPr marL="2286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" pitchFamily="34" charset="-120"/>
              </a:rPr>
              <a:t>This project culminates in a robust solution designed to overcome the critical "sensitivity crisis" in mobile health, ensuring reliable and accessible early melanoma detection for all users.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Robust &amp; Reliable AI.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Advanced Lightweight Hybrid CNN-Transformer Framework.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Roboto Medium" pitchFamily="34" charset="-120"/>
              </a:rPr>
              <a:t>Empowering Decentralized Care.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95630" y="1384300"/>
            <a:ext cx="10544175" cy="488124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Liu, Y., Zhang, K., Wang, S., &amp; Chen, X.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(2023). Enhancing AI robustness to blur in medical mobile applications.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International Journal of Computer Vision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131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(4), 1023–1040.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Patel, S. K., Desai, A., Shah, M., &amp; Mehta, R.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(2022). Robustness analysis of convolutional neural networks to real-world image distortions.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IEEE Journal of Biomedical and Health Informatics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26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(8), 3895–3906.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Hatamizadeh, A., Tang, Y., Nath, V., Yang, D., </a:t>
            </a:r>
            <a:r>
              <a:rPr lang="en-US"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Myronenko</a:t>
            </a: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A., Landman, B., Roth, H. R., &amp; Xu, D.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(2022). UNETR: Transformers for 3D medical image segmentation.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IEEE Transactions on Medical Imaging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41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(10), 2746–2758.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Rehman, A., </a:t>
            </a:r>
            <a:r>
              <a:rPr lang="en-US"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Zhovmer</a:t>
            </a: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A., Sato, R., </a:t>
            </a:r>
            <a:r>
              <a:rPr lang="en-US"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Mukouyama</a:t>
            </a: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Y., Chen, J., </a:t>
            </a:r>
            <a:r>
              <a:rPr lang="en-US"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Rissone</a:t>
            </a: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A., Puertollano, R., Liu, J., </a:t>
            </a:r>
            <a:r>
              <a:rPr lang="en-US"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Vishwasrao</a:t>
            </a:r>
            <a:r>
              <a:rPr 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H. D., Shroff, H., Combs, C. A., &amp; Xue, H.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(2024). Convolutional neural network transformer (CNNT) for fluorescence microscopy image denoising with improved generalization and fast adaptation. </a:t>
            </a:r>
            <a:r>
              <a:rPr 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Scientific Reports, 14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18184.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1365" y="400967"/>
            <a:ext cx="11191551" cy="827197"/>
          </a:xfrm>
        </p:spPr>
        <p:txBody>
          <a:bodyPr>
            <a:normAutofit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Reference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C8F881-6F36-36E7-EDA8-D92E9F9C4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American Cancer Society.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(2023). </a:t>
            </a:r>
            <a:r>
              <a:rPr lang="en-US" sz="18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Melanoma skin cancer survival rates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American Cancer Society.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Esteva, A., Kuprel, B., Novoa, R. A., Ko, J., Swetter, S. M., Blau, H. M., &amp; Thrun, S.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(2017). Dermatologist-level classification of skin cancer with deep neural networks. </a:t>
            </a:r>
            <a:r>
              <a:rPr lang="en-US" sz="18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Nature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542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(7639), 115–118.</a:t>
            </a:r>
            <a:b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Han, S. S., Kim, M. S., Lim, W., Park, G. H., Park, I., &amp; Chang, S. E.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(2022). Classification of the clinical images for benign and malignant cutaneous tumors using a deep learning algorithm. </a:t>
            </a:r>
            <a:r>
              <a:rPr lang="en-US" sz="18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Journal of Investigative Dermatology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142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(5), 1236–1244.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World Health Organization.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(2022). </a:t>
            </a:r>
            <a:r>
              <a:rPr lang="en-US" sz="18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Global strategy on digital health 2020–2025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World Health Organization.</a:t>
            </a:r>
            <a:b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E5AE9B-7810-9C3E-800E-8C27A2B8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276371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BEF1"/>
      </a:accent1>
      <a:accent2>
        <a:srgbClr val="00820F"/>
      </a:accent2>
      <a:accent3>
        <a:srgbClr val="A5A5A5"/>
      </a:accent3>
      <a:accent4>
        <a:srgbClr val="FFF901"/>
      </a:accent4>
      <a:accent5>
        <a:srgbClr val="833C0B"/>
      </a:accent5>
      <a:accent6>
        <a:srgbClr val="6F3B55"/>
      </a:accent6>
      <a:hlink>
        <a:srgbClr val="0095B8"/>
      </a:hlink>
      <a:folHlink>
        <a:srgbClr val="00EAEA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1203</Words>
  <Application>Microsoft Office PowerPoint</Application>
  <PresentationFormat>Widescreen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Symbol</vt:lpstr>
      <vt:lpstr>Times New Roman</vt:lpstr>
      <vt:lpstr>Verdana</vt:lpstr>
      <vt:lpstr>Office Theme</vt:lpstr>
      <vt:lpstr>PowerPoint Presentation</vt:lpstr>
      <vt:lpstr>Outline</vt:lpstr>
      <vt:lpstr>1. Introduction</vt:lpstr>
      <vt:lpstr>2. Problem Statement</vt:lpstr>
      <vt:lpstr>3. Objective</vt:lpstr>
      <vt:lpstr>4. Significance Of The Study</vt:lpstr>
      <vt:lpstr>5. Scope And Limitations</vt:lpstr>
      <vt:lpstr>6. Literature Review (Brief)</vt:lpstr>
      <vt:lpstr>7. Methodology</vt:lpstr>
      <vt:lpstr>Methodology</vt:lpstr>
      <vt:lpstr>Methodology</vt:lpstr>
      <vt:lpstr>8. Expected Output / Results</vt:lpstr>
      <vt:lpstr>9. Project Work Plan / Time Schedule</vt:lpstr>
      <vt:lpstr>10. Conclusion</vt:lpstr>
      <vt:lpstr>11. Reference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appiah</dc:creator>
  <cp:lastModifiedBy>John Taylor</cp:lastModifiedBy>
  <cp:revision>268</cp:revision>
  <dcterms:created xsi:type="dcterms:W3CDTF">2021-09-14T13:24:00Z</dcterms:created>
  <dcterms:modified xsi:type="dcterms:W3CDTF">2026-02-05T19:02:50Z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BEA63A4353034BEE8F9E37013B270140_13</vt:lpwstr>
  </property>
  <property fmtid="{D5CDD505-2E9C-101B-9397-08002B2CF9AE}" pid="3" name="KSOProductBuildVer">
    <vt:lpwstr>1033-12.2.0.23196</vt:lpwstr>
  </property>
</Properties>
</file>